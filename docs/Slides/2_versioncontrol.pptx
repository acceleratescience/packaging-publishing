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5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6AD5A-4C6E-9E44-9BC6-C515B2BA6C83}" v="18" dt="2026-03-06T10:10:04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661"/>
  </p:normalViewPr>
  <p:slideViewPr>
    <p:cSldViewPr snapToGrid="0">
      <p:cViewPr varScale="1">
        <p:scale>
          <a:sx n="114" d="100"/>
          <a:sy n="114" d="100"/>
        </p:scale>
        <p:origin x="1080" y="-200"/>
      </p:cViewPr>
      <p:guideLst/>
    </p:cSldViewPr>
  </p:slideViewPr>
  <p:notesTextViewPr>
    <p:cViewPr>
      <p:scale>
        <a:sx n="1" d="1"/>
        <a:sy n="1" d="1"/>
      </p:scale>
      <p:origin x="0" y="-35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ley Griffin" userId="22b0b6c4-ce40-4dd6-a0c2-f0f65dd91442" providerId="ADAL" clId="{E340F9FE-63CF-5DC1-BB85-0501F5A6B451}"/>
    <pc:docChg chg="undo custSel addSld modSld">
      <pc:chgData name="Finley Griffin" userId="22b0b6c4-ce40-4dd6-a0c2-f0f65dd91442" providerId="ADAL" clId="{E340F9FE-63CF-5DC1-BB85-0501F5A6B451}" dt="2026-03-10T13:41:00.208" v="888" actId="20577"/>
      <pc:docMkLst>
        <pc:docMk/>
      </pc:docMkLst>
      <pc:sldChg chg="modNotesTx">
        <pc:chgData name="Finley Griffin" userId="22b0b6c4-ce40-4dd6-a0c2-f0f65dd91442" providerId="ADAL" clId="{E340F9FE-63CF-5DC1-BB85-0501F5A6B451}" dt="2026-03-05T13:52:27.574" v="0" actId="20577"/>
        <pc:sldMkLst>
          <pc:docMk/>
          <pc:sldMk cId="4226939350" sldId="322"/>
        </pc:sldMkLst>
      </pc:sldChg>
      <pc:sldChg chg="modNotesTx">
        <pc:chgData name="Finley Griffin" userId="22b0b6c4-ce40-4dd6-a0c2-f0f65dd91442" providerId="ADAL" clId="{E340F9FE-63CF-5DC1-BB85-0501F5A6B451}" dt="2026-03-05T13:54:40.774" v="1" actId="20577"/>
        <pc:sldMkLst>
          <pc:docMk/>
          <pc:sldMk cId="1501153965" sldId="324"/>
        </pc:sldMkLst>
      </pc:sldChg>
      <pc:sldChg chg="modNotesTx">
        <pc:chgData name="Finley Griffin" userId="22b0b6c4-ce40-4dd6-a0c2-f0f65dd91442" providerId="ADAL" clId="{E340F9FE-63CF-5DC1-BB85-0501F5A6B451}" dt="2026-03-05T13:55:00.918" v="2" actId="20577"/>
        <pc:sldMkLst>
          <pc:docMk/>
          <pc:sldMk cId="3960589576" sldId="326"/>
        </pc:sldMkLst>
      </pc:sldChg>
      <pc:sldChg chg="modNotesTx">
        <pc:chgData name="Finley Griffin" userId="22b0b6c4-ce40-4dd6-a0c2-f0f65dd91442" providerId="ADAL" clId="{E340F9FE-63CF-5DC1-BB85-0501F5A6B451}" dt="2026-03-05T13:55:26.627" v="3" actId="20577"/>
        <pc:sldMkLst>
          <pc:docMk/>
          <pc:sldMk cId="1894901620" sldId="327"/>
        </pc:sldMkLst>
      </pc:sldChg>
      <pc:sldChg chg="modNotesTx">
        <pc:chgData name="Finley Griffin" userId="22b0b6c4-ce40-4dd6-a0c2-f0f65dd91442" providerId="ADAL" clId="{E340F9FE-63CF-5DC1-BB85-0501F5A6B451}" dt="2026-03-05T13:55:36.014" v="4" actId="20577"/>
        <pc:sldMkLst>
          <pc:docMk/>
          <pc:sldMk cId="1305406005" sldId="328"/>
        </pc:sldMkLst>
      </pc:sldChg>
      <pc:sldChg chg="modNotesTx">
        <pc:chgData name="Finley Griffin" userId="22b0b6c4-ce40-4dd6-a0c2-f0f65dd91442" providerId="ADAL" clId="{E340F9FE-63CF-5DC1-BB85-0501F5A6B451}" dt="2026-03-05T13:56:11.479" v="5" actId="20577"/>
        <pc:sldMkLst>
          <pc:docMk/>
          <pc:sldMk cId="3624456403" sldId="329"/>
        </pc:sldMkLst>
      </pc:sldChg>
      <pc:sldChg chg="addSp delSp modSp mod modNotesTx">
        <pc:chgData name="Finley Griffin" userId="22b0b6c4-ce40-4dd6-a0c2-f0f65dd91442" providerId="ADAL" clId="{E340F9FE-63CF-5DC1-BB85-0501F5A6B451}" dt="2026-03-05T14:14:04.408" v="495" actId="20577"/>
        <pc:sldMkLst>
          <pc:docMk/>
          <pc:sldMk cId="3643261532" sldId="330"/>
        </pc:sldMkLst>
        <pc:spChg chg="mod">
          <ac:chgData name="Finley Griffin" userId="22b0b6c4-ce40-4dd6-a0c2-f0f65dd91442" providerId="ADAL" clId="{E340F9FE-63CF-5DC1-BB85-0501F5A6B451}" dt="2026-03-05T14:12:54.833" v="439" actId="255"/>
          <ac:spMkLst>
            <pc:docMk/>
            <pc:sldMk cId="3643261532" sldId="330"/>
            <ac:spMk id="6" creationId="{667A7450-5E4F-62F0-3B59-3CF8D4B2EAA4}"/>
          </ac:spMkLst>
        </pc:spChg>
        <pc:spChg chg="add mod">
          <ac:chgData name="Finley Griffin" userId="22b0b6c4-ce40-4dd6-a0c2-f0f65dd91442" providerId="ADAL" clId="{E340F9FE-63CF-5DC1-BB85-0501F5A6B451}" dt="2026-03-05T14:03:41.665" v="99" actId="1076"/>
          <ac:spMkLst>
            <pc:docMk/>
            <pc:sldMk cId="3643261532" sldId="330"/>
            <ac:spMk id="16" creationId="{17A7A6F4-47D8-056F-F007-1FC8850133EB}"/>
          </ac:spMkLst>
        </pc:spChg>
        <pc:spChg chg="add mod">
          <ac:chgData name="Finley Griffin" userId="22b0b6c4-ce40-4dd6-a0c2-f0f65dd91442" providerId="ADAL" clId="{E340F9FE-63CF-5DC1-BB85-0501F5A6B451}" dt="2026-03-05T14:03:57.198" v="101" actId="1076"/>
          <ac:spMkLst>
            <pc:docMk/>
            <pc:sldMk cId="3643261532" sldId="330"/>
            <ac:spMk id="18" creationId="{93562274-C1E5-BED9-1536-5571E3098007}"/>
          </ac:spMkLst>
        </pc:spChg>
        <pc:spChg chg="add mod">
          <ac:chgData name="Finley Griffin" userId="22b0b6c4-ce40-4dd6-a0c2-f0f65dd91442" providerId="ADAL" clId="{E340F9FE-63CF-5DC1-BB85-0501F5A6B451}" dt="2026-03-05T14:03:44.430" v="100" actId="1076"/>
          <ac:spMkLst>
            <pc:docMk/>
            <pc:sldMk cId="3643261532" sldId="330"/>
            <ac:spMk id="19" creationId="{AE189D10-63C7-52F1-954C-FD499394D9CF}"/>
          </ac:spMkLst>
        </pc:spChg>
        <pc:spChg chg="add mod">
          <ac:chgData name="Finley Griffin" userId="22b0b6c4-ce40-4dd6-a0c2-f0f65dd91442" providerId="ADAL" clId="{E340F9FE-63CF-5DC1-BB85-0501F5A6B451}" dt="2026-03-05T14:04:59.716" v="124" actId="20577"/>
          <ac:spMkLst>
            <pc:docMk/>
            <pc:sldMk cId="3643261532" sldId="330"/>
            <ac:spMk id="20" creationId="{9C9F0CDD-7CB2-DCAA-68D2-E89908CFEE43}"/>
          </ac:spMkLst>
        </pc:spChg>
        <pc:spChg chg="add mod">
          <ac:chgData name="Finley Griffin" userId="22b0b6c4-ce40-4dd6-a0c2-f0f65dd91442" providerId="ADAL" clId="{E340F9FE-63CF-5DC1-BB85-0501F5A6B451}" dt="2026-03-05T14:12:48.147" v="438" actId="14100"/>
          <ac:spMkLst>
            <pc:docMk/>
            <pc:sldMk cId="3643261532" sldId="330"/>
            <ac:spMk id="21" creationId="{31604E53-7CE3-303D-67E5-9D180577F926}"/>
          </ac:spMkLst>
        </pc:spChg>
        <pc:spChg chg="add mod">
          <ac:chgData name="Finley Griffin" userId="22b0b6c4-ce40-4dd6-a0c2-f0f65dd91442" providerId="ADAL" clId="{E340F9FE-63CF-5DC1-BB85-0501F5A6B451}" dt="2026-03-05T14:12:54.833" v="439" actId="255"/>
          <ac:spMkLst>
            <pc:docMk/>
            <pc:sldMk cId="3643261532" sldId="330"/>
            <ac:spMk id="24" creationId="{70A58676-812F-A1DB-9D04-30BE2AA75DF2}"/>
          </ac:spMkLst>
        </pc:spChg>
        <pc:spChg chg="add mod">
          <ac:chgData name="Finley Griffin" userId="22b0b6c4-ce40-4dd6-a0c2-f0f65dd91442" providerId="ADAL" clId="{E340F9FE-63CF-5DC1-BB85-0501F5A6B451}" dt="2026-03-05T14:10:27.233" v="242" actId="14100"/>
          <ac:spMkLst>
            <pc:docMk/>
            <pc:sldMk cId="3643261532" sldId="330"/>
            <ac:spMk id="25" creationId="{526EDD86-93FD-7FE2-BEED-5DD85A46F9CA}"/>
          </ac:spMkLst>
        </pc:spChg>
        <pc:spChg chg="add mod">
          <ac:chgData name="Finley Griffin" userId="22b0b6c4-ce40-4dd6-a0c2-f0f65dd91442" providerId="ADAL" clId="{E340F9FE-63CF-5DC1-BB85-0501F5A6B451}" dt="2026-03-05T14:10:45.448" v="260" actId="14100"/>
          <ac:spMkLst>
            <pc:docMk/>
            <pc:sldMk cId="3643261532" sldId="330"/>
            <ac:spMk id="26" creationId="{1030D4B1-D0D0-8F3C-3B97-CFC461F298FE}"/>
          </ac:spMkLst>
        </pc:spChg>
        <pc:spChg chg="add mod">
          <ac:chgData name="Finley Griffin" userId="22b0b6c4-ce40-4dd6-a0c2-f0f65dd91442" providerId="ADAL" clId="{E340F9FE-63CF-5DC1-BB85-0501F5A6B451}" dt="2026-03-05T14:13:00.069" v="441" actId="1076"/>
          <ac:spMkLst>
            <pc:docMk/>
            <pc:sldMk cId="3643261532" sldId="330"/>
            <ac:spMk id="27" creationId="{45FDF737-C1DB-DDCB-D4D0-BB5300EB945E}"/>
          </ac:spMkLst>
        </pc:spChg>
        <pc:spChg chg="add mod">
          <ac:chgData name="Finley Griffin" userId="22b0b6c4-ce40-4dd6-a0c2-f0f65dd91442" providerId="ADAL" clId="{E340F9FE-63CF-5DC1-BB85-0501F5A6B451}" dt="2026-03-05T14:12:57.835" v="440" actId="1076"/>
          <ac:spMkLst>
            <pc:docMk/>
            <pc:sldMk cId="3643261532" sldId="330"/>
            <ac:spMk id="28" creationId="{3DCD04A5-9A48-35E4-9E40-4BEF40A59EF3}"/>
          </ac:spMkLst>
        </pc:spChg>
        <pc:spChg chg="add mod">
          <ac:chgData name="Finley Griffin" userId="22b0b6c4-ce40-4dd6-a0c2-f0f65dd91442" providerId="ADAL" clId="{E340F9FE-63CF-5DC1-BB85-0501F5A6B451}" dt="2026-03-05T14:14:04.408" v="495" actId="20577"/>
          <ac:spMkLst>
            <pc:docMk/>
            <pc:sldMk cId="3643261532" sldId="330"/>
            <ac:spMk id="29" creationId="{714908ED-8B6B-B7CE-618C-8932E325FCB1}"/>
          </ac:spMkLst>
        </pc:spChg>
        <pc:cxnChg chg="add mod">
          <ac:chgData name="Finley Griffin" userId="22b0b6c4-ce40-4dd6-a0c2-f0f65dd91442" providerId="ADAL" clId="{E340F9FE-63CF-5DC1-BB85-0501F5A6B451}" dt="2026-03-05T14:02:41.417" v="20" actId="208"/>
          <ac:cxnSpMkLst>
            <pc:docMk/>
            <pc:sldMk cId="3643261532" sldId="330"/>
            <ac:cxnSpMk id="9" creationId="{38E91936-D3AB-686A-AF62-E00A839A113C}"/>
          </ac:cxnSpMkLst>
        </pc:cxnChg>
        <pc:cxnChg chg="add mod">
          <ac:chgData name="Finley Griffin" userId="22b0b6c4-ce40-4dd6-a0c2-f0f65dd91442" providerId="ADAL" clId="{E340F9FE-63CF-5DC1-BB85-0501F5A6B451}" dt="2026-03-05T14:02:41.417" v="20" actId="208"/>
          <ac:cxnSpMkLst>
            <pc:docMk/>
            <pc:sldMk cId="3643261532" sldId="330"/>
            <ac:cxnSpMk id="10" creationId="{791E84B6-0C22-5A53-1C7D-CBB107C76BEB}"/>
          </ac:cxnSpMkLst>
        </pc:cxnChg>
      </pc:sldChg>
      <pc:sldChg chg="addSp delSp modSp new mod modNotesTx">
        <pc:chgData name="Finley Griffin" userId="22b0b6c4-ce40-4dd6-a0c2-f0f65dd91442" providerId="ADAL" clId="{E340F9FE-63CF-5DC1-BB85-0501F5A6B451}" dt="2026-03-10T13:41:00.208" v="888" actId="20577"/>
        <pc:sldMkLst>
          <pc:docMk/>
          <pc:sldMk cId="1495705753" sldId="331"/>
        </pc:sldMkLst>
        <pc:spChg chg="mod">
          <ac:chgData name="Finley Griffin" userId="22b0b6c4-ce40-4dd6-a0c2-f0f65dd91442" providerId="ADAL" clId="{E340F9FE-63CF-5DC1-BB85-0501F5A6B451}" dt="2026-03-06T10:02:59.369" v="543" actId="20577"/>
          <ac:spMkLst>
            <pc:docMk/>
            <pc:sldMk cId="1495705753" sldId="331"/>
            <ac:spMk id="2" creationId="{23AC0913-7678-7088-0C8A-69CC9CD87457}"/>
          </ac:spMkLst>
        </pc:spChg>
        <pc:spChg chg="add del mod">
          <ac:chgData name="Finley Griffin" userId="22b0b6c4-ce40-4dd6-a0c2-f0f65dd91442" providerId="ADAL" clId="{E340F9FE-63CF-5DC1-BB85-0501F5A6B451}" dt="2026-03-10T11:37:50.050" v="674" actId="20577"/>
          <ac:spMkLst>
            <pc:docMk/>
            <pc:sldMk cId="1495705753" sldId="331"/>
            <ac:spMk id="4" creationId="{27D5D536-D61C-6796-C14C-A06789A4FDC3}"/>
          </ac:spMkLst>
        </pc:spChg>
        <pc:spChg chg="add mod">
          <ac:chgData name="Finley Griffin" userId="22b0b6c4-ce40-4dd6-a0c2-f0f65dd91442" providerId="ADAL" clId="{E340F9FE-63CF-5DC1-BB85-0501F5A6B451}" dt="2026-03-06T10:10:39.597" v="630" actId="1582"/>
          <ac:spMkLst>
            <pc:docMk/>
            <pc:sldMk cId="1495705753" sldId="331"/>
            <ac:spMk id="8" creationId="{B3FCB599-DA0D-78B2-24A6-83A6F73A120A}"/>
          </ac:spMkLst>
        </pc:spChg>
        <pc:picChg chg="add mod">
          <ac:chgData name="Finley Griffin" userId="22b0b6c4-ce40-4dd6-a0c2-f0f65dd91442" providerId="ADAL" clId="{E340F9FE-63CF-5DC1-BB85-0501F5A6B451}" dt="2026-03-06T10:10:10.098" v="624" actId="1076"/>
          <ac:picMkLst>
            <pc:docMk/>
            <pc:sldMk cId="1495705753" sldId="331"/>
            <ac:picMk id="7" creationId="{21D1564C-3157-E018-CD51-0FA9F3CA99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1860F-0246-6943-9513-9B83B6C99F1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D236A-9B84-094E-B29D-B15C4B20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8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will now move onto version control. We’ll cover what are git and </a:t>
            </a:r>
            <a:r>
              <a:rPr lang="en-US" dirty="0" err="1"/>
              <a:t>github</a:t>
            </a:r>
            <a:r>
              <a:rPr lang="en-US" dirty="0"/>
              <a:t>, some features of GitHub. Then we’ll take a dive into some IDEs, and developing software. Finally, we’ll take a dive into licensing.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85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23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to make your code publicly available, how do you do this? We essentially use cloud storage, but for code!</a:t>
            </a:r>
          </a:p>
          <a:p>
            <a:endParaRPr lang="en-US" dirty="0"/>
          </a:p>
          <a:p>
            <a:r>
              <a:rPr lang="en-US" dirty="0"/>
              <a:t>There are quite a few version control repositories out there. It allows you to make changes, track changes, upload and download files, publicly share your code, deploy websites, etc.</a:t>
            </a:r>
          </a:p>
          <a:p>
            <a:endParaRPr lang="en-US" dirty="0"/>
          </a:p>
          <a:p>
            <a:r>
              <a:rPr lang="en-US" dirty="0"/>
              <a:t>By far the most popular are </a:t>
            </a:r>
            <a:r>
              <a:rPr lang="en-US" dirty="0" err="1"/>
              <a:t>github</a:t>
            </a:r>
            <a:r>
              <a:rPr lang="en-US" dirty="0"/>
              <a:t> and </a:t>
            </a:r>
            <a:r>
              <a:rPr lang="en-US" dirty="0" err="1"/>
              <a:t>gitlab</a:t>
            </a:r>
            <a:r>
              <a:rPr lang="en-US" dirty="0"/>
              <a:t>, but there are others as well like bitbucket and </a:t>
            </a:r>
            <a:r>
              <a:rPr lang="en-US" dirty="0" err="1"/>
              <a:t>sourceforge</a:t>
            </a:r>
            <a:r>
              <a:rPr lang="en-US" dirty="0"/>
              <a:t>. Often code will be posted to very many of these.</a:t>
            </a:r>
          </a:p>
          <a:p>
            <a:endParaRPr lang="en-US" dirty="0"/>
          </a:p>
          <a:p>
            <a:r>
              <a:rPr lang="en-US" dirty="0"/>
              <a:t>So we’ll just walk through </a:t>
            </a:r>
            <a:r>
              <a:rPr lang="en-US" dirty="0" err="1"/>
              <a:t>github</a:t>
            </a:r>
            <a:r>
              <a:rPr lang="en-US" dirty="0"/>
              <a:t> and what it looks like (anybody with experience of git and </a:t>
            </a:r>
            <a:r>
              <a:rPr lang="en-US" dirty="0" err="1"/>
              <a:t>github</a:t>
            </a:r>
            <a:r>
              <a:rPr lang="en-US" dirty="0"/>
              <a:t>, please feel free to add anything at any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92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2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so many ways to write python code. My story arc went something like this:</a:t>
            </a:r>
          </a:p>
          <a:p>
            <a:endParaRPr lang="en-US" dirty="0"/>
          </a:p>
          <a:p>
            <a:r>
              <a:rPr lang="en-US" dirty="0"/>
              <a:t>I first learnt to use python using Wing IDE. I then switched to using Anaconda, because at the time it was hot and billed as a great framework for scientific software, which it really was – it made things very convenient. So I used mainly </a:t>
            </a:r>
            <a:r>
              <a:rPr lang="en-US" dirty="0" err="1"/>
              <a:t>Jupyter</a:t>
            </a:r>
            <a:r>
              <a:rPr lang="en-US" dirty="0"/>
              <a:t> Notebooks, and Spyder. Spyder offers a great landing zone for people who are migrating from MATLAB, because the look and feel of it are very familiar. Then I did some work involving C/C++, so I used Atom for a while. Then I moved back to mostly working in Python, so I switched back and forth between PyCharm and </a:t>
            </a:r>
            <a:r>
              <a:rPr lang="en-US" dirty="0" err="1"/>
              <a:t>Jupyter</a:t>
            </a:r>
            <a:r>
              <a:rPr lang="en-US" dirty="0"/>
              <a:t>. I really liked the convenience of PyCharm. I also had a brief affair with Spyder again, after I discovered how much storage space my PyCharm projects were taking up. Also during this time, I used Nano because I was working on a remote server and needed to edit some scripts. Then I was working in C++ again, so I switched to Visual Studio, which is a very heavy all around beast of a development environment – it really is a very comprehensive tool, and when you’re developing C++ code, it takes a way a lot of the pain. And now I’ve permanently settled on VS Code. With Zed for Rust.</a:t>
            </a:r>
          </a:p>
          <a:p>
            <a:endParaRPr lang="en-US" dirty="0"/>
          </a:p>
          <a:p>
            <a:r>
              <a:rPr lang="en-US" dirty="0"/>
              <a:t>You still have a subset of people who insist on using Vim or Nano, but we just nod politely when they speak to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4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628650" lvl="1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9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anybody here use Copilot?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66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47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8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5ED22-7F78-2343-B2F8-62A450EBBC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78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notebook, don’t run any cells!</a:t>
            </a:r>
          </a:p>
          <a:p>
            <a:endParaRPr lang="en-US" dirty="0"/>
          </a:p>
          <a:p>
            <a:r>
              <a:rPr lang="en-US" dirty="0"/>
              <a:t>Walk through structure of day after break, where to follow how I’m going to be coding .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Walk through first section </a:t>
            </a:r>
            <a:r>
              <a:rPr lang="en-US"/>
              <a:t>with 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D236A-9B84-094E-B29D-B15C4B2091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8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34C2-FCEC-6C23-378F-A48F53AC0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410ED-51D0-1C80-D4C5-F92D70762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51896-DD28-46FB-0DF9-F68ECD72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FCCBA-FF96-2694-EFA0-B64732AB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40723-F3B8-B7B7-D514-6076C5B7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08C1-09EB-FFDF-0EAF-3580AD36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25C3D-BFCC-45D2-D4FC-2667E2A43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D423C-74F2-43FC-7CB3-84508CFB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B7548-A0A2-35F8-F295-92FA3C14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A679D-401C-9897-1F64-8CF9ACFA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5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88D3-3D93-2B2C-656D-D8E8E51B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7131F-866E-F239-BB44-BC7415E75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770-A51A-9748-45F3-6BFFC17B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278D-AF19-559C-E669-02AF9B71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9692-D0FE-7114-1B74-37EE0855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8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27C5-6E84-D50D-E301-E461E58BE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7FA8-C6DC-8FCB-816C-B49061830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391A8-3926-F6F9-45D0-376F64714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D003E-CEC8-107E-3935-67DD650E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34C9D-D89F-DF7B-91D6-CB470EC0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FD450-2C2F-4753-18A5-33CA53DE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0E54-E3C3-95E4-25B6-E960C0AE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9FB9F-9C6F-8EF4-B479-3024D31D8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CFA9F-A69B-70D2-FEAA-AC107C99D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B0298-7F99-CE75-BE71-1084F9AA2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E629D-F3C0-7F17-35E0-FE495535B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DDCDB-2435-562D-25BD-7087F82D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7E3190-8F10-93B5-3EF6-E7D92ACD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24C09-B80D-E10C-77C3-DA7B19A8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6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7064-9645-69E6-CA4D-91748A3E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6C2E8-8291-E584-C6AA-028E4227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B03D8-A62B-3BE9-CE04-0C4FFE31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499CF-309A-F18E-468A-DDA6C40E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9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1426B-C4EC-DD1D-FBAC-73876E2D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E82C5-A44E-74B4-0F2D-AE6F018B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21F85-321D-42CF-F9BB-85BCFC34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9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2CB5-F3CE-9683-29F8-386B9B8C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7052-9720-2DCC-132C-F1015AC00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9B58E-6C49-A87C-F282-464709F09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4CC68-7854-B33A-EDA2-F0F38FD6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72988-2369-E291-294F-CDFDA8978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2E3A7-D576-C258-6E24-3BF5345D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0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2436-EDBE-4731-345E-9C864E2B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23DE5-6152-5DFE-B03D-022B9C710B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7BA4-1026-CD27-A27E-76DA4BAB3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A54C3-9424-951D-FDA4-F1DAFB06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9C205-35B7-08F3-5B5E-1A08FA998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6CE3A-7618-AE83-C997-97027F79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0939-73ED-7242-9902-63F3AEA5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A0079-E977-EE00-E06D-417FFC34D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E925-5A5C-E6D7-480E-040A3A9D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8BDC2-9EBA-C47A-ACBF-4EF4FA0A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DA0B9-A9B0-A3AE-D50D-14E454C5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6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88E9B-B561-B452-091A-DCAA683E3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1018D-B45E-2942-F11B-451FB2CD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2F875-4DC3-40F6-D2B6-C14D6A59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47AAE-00DB-3FC0-6D84-FCFE6A77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06692-2248-ED2C-2EC6-2B5A334B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6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/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1" y="5688218"/>
            <a:ext cx="7288945" cy="1169781"/>
          </a:xfrm>
          <a:prstGeom prst="rect">
            <a:avLst/>
          </a:prstGeom>
          <a:solidFill>
            <a:srgbClr val="1F5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269E6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6" y="6042840"/>
            <a:ext cx="1718851" cy="514429"/>
          </a:xfrm>
          <a:prstGeom prst="rect">
            <a:avLst/>
          </a:prstGeom>
        </p:spPr>
      </p:pic>
      <p:pic>
        <p:nvPicPr>
          <p:cNvPr id="11" name="Picture 10" descr="Schmidt 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034" y="6042839"/>
            <a:ext cx="1162612" cy="514431"/>
          </a:xfrm>
          <a:prstGeom prst="rect">
            <a:avLst/>
          </a:prstGeom>
        </p:spPr>
      </p:pic>
      <p:sp>
        <p:nvSpPr>
          <p:cNvPr id="10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08654" y="1492897"/>
            <a:ext cx="6480292" cy="1458343"/>
          </a:xfrm>
        </p:spPr>
        <p:txBody>
          <a:bodyPr/>
          <a:lstStyle>
            <a:lvl1pPr marL="0" indent="0">
              <a:buNone/>
              <a:defRPr b="0" i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808654" y="3054911"/>
            <a:ext cx="6480292" cy="870859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Sub-title</a:t>
            </a:r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808654" y="4022529"/>
            <a:ext cx="6480292" cy="483811"/>
          </a:xfrm>
        </p:spPr>
        <p:txBody>
          <a:bodyPr>
            <a:normAutofit/>
          </a:bodyPr>
          <a:lstStyle>
            <a:lvl1pPr marL="0" indent="0">
              <a:buNone/>
              <a:defRPr sz="2133" b="0">
                <a:solidFill>
                  <a:srgbClr val="235EE2"/>
                </a:solidFill>
                <a:latin typeface="Helvetica Light"/>
                <a:cs typeface="Helvetica Light"/>
              </a:defRPr>
            </a:lvl1pPr>
          </a:lstStyle>
          <a:p>
            <a:pPr lvl="0"/>
            <a:r>
              <a:rPr lang="en-GB"/>
              <a:t>Sub-text</a:t>
            </a:r>
            <a:endParaRPr lang="en-US"/>
          </a:p>
        </p:txBody>
      </p:sp>
      <p:pic>
        <p:nvPicPr>
          <p:cNvPr id="18" name="Picture 17" descr="colours_1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14"/>
          <a:stretch/>
        </p:blipFill>
        <p:spPr>
          <a:xfrm>
            <a:off x="7288946" y="22435"/>
            <a:ext cx="4903055" cy="6835564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808654" y="2999615"/>
            <a:ext cx="6480292" cy="0"/>
          </a:xfrm>
          <a:prstGeom prst="line">
            <a:avLst/>
          </a:prstGeom>
          <a:ln>
            <a:solidFill>
              <a:srgbClr val="235E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102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29" y="0"/>
            <a:ext cx="4873871" cy="7395883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03659" y="373404"/>
            <a:ext cx="11176000" cy="63391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200" b="0" i="0" baseline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>
                <a:latin typeface="Avenir Heavy"/>
                <a:cs typeface="Avenir Heavy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03659" y="1071268"/>
            <a:ext cx="11176000" cy="0"/>
          </a:xfrm>
          <a:prstGeom prst="line">
            <a:avLst/>
          </a:prstGeom>
          <a:ln>
            <a:solidFill>
              <a:srgbClr val="1F5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03659" y="1146008"/>
            <a:ext cx="11176000" cy="59942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6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>
                <a:latin typeface="Avenir Heavy"/>
                <a:cs typeface="Avenir Heavy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03659" y="1867010"/>
            <a:ext cx="11176000" cy="3994529"/>
          </a:xfrm>
          <a:prstGeom prst="rect">
            <a:avLst/>
          </a:prstGeom>
        </p:spPr>
        <p:txBody>
          <a:bodyPr vert="horz"/>
          <a:lstStyle>
            <a:lvl1pPr marL="380990" indent="-380990">
              <a:buClr>
                <a:srgbClr val="235EE2"/>
              </a:buClr>
              <a:buSzPct val="70000"/>
              <a:buFont typeface="Courier New"/>
              <a:buChar char="o"/>
              <a:defRPr sz="18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buClr>
                <a:srgbClr val="235EE2"/>
              </a:buClr>
              <a:buSzPct val="70000"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cs typeface="Helvetica Light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>
                <a:latin typeface="Avenir Book"/>
                <a:cs typeface="Avenir Book"/>
              </a:rPr>
              <a:t>Sub text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10" name="Picture 9" descr="logo landscap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19" y="6042840"/>
            <a:ext cx="1719725" cy="514429"/>
          </a:xfrm>
          <a:prstGeom prst="rect">
            <a:avLst/>
          </a:prstGeom>
        </p:spPr>
      </p:pic>
      <p:pic>
        <p:nvPicPr>
          <p:cNvPr id="12" name="Picture 11" descr="Schmidt 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034" y="6042839"/>
            <a:ext cx="1162612" cy="51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8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33D2F-4DFA-C5BA-D5F1-B6295DBE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8F21B-7BA4-B70F-7FAD-9A5D3469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E3C6-E1BB-080A-9504-DC156946D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47B38-4403-474D-B901-AA01AFFF0327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0EC9-BE61-77E6-EC77-29D5C48CC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1AC0C-3AC5-CF0F-585C-40C4D1540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ACA97-18A8-F24C-84AA-B9B027C7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91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1B8A-DF12-1B91-E4D6-7E855AFA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1CA23B-B931-1BA6-F5ED-7D82DD946D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en-GB" dirty="0"/>
              <a:t>Version Control with Git and GitHub</a:t>
            </a:r>
          </a:p>
        </p:txBody>
      </p:sp>
    </p:spTree>
    <p:extLst>
      <p:ext uri="{BB962C8B-B14F-4D97-AF65-F5344CB8AC3E}">
        <p14:creationId xmlns:p14="http://schemas.microsoft.com/office/powerpoint/2010/main" val="318514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A66082-DDD2-3570-7762-BBE3001D6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Version Control with Git and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FD34-DE4D-9F4F-5129-9F2FEDA9F3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5E7AF-2B40-9C85-04C7-811324DB54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Why is version control important?</a:t>
            </a:r>
          </a:p>
          <a:p>
            <a:r>
              <a:rPr lang="en-US" dirty="0"/>
              <a:t>What are Git and GitHub?</a:t>
            </a:r>
          </a:p>
          <a:p>
            <a:pPr lvl="1"/>
            <a:r>
              <a:rPr lang="en-US" dirty="0"/>
              <a:t>Repos</a:t>
            </a:r>
          </a:p>
          <a:p>
            <a:pPr lvl="1"/>
            <a:r>
              <a:rPr lang="en-US" dirty="0"/>
              <a:t>Organizations</a:t>
            </a:r>
          </a:p>
          <a:p>
            <a:pPr lvl="1"/>
            <a:r>
              <a:rPr lang="en-US" dirty="0"/>
              <a:t>Features</a:t>
            </a:r>
          </a:p>
          <a:p>
            <a:r>
              <a:rPr lang="en-US" dirty="0"/>
              <a:t>How to integrate basic version controlling with your work</a:t>
            </a:r>
          </a:p>
          <a:p>
            <a:pPr lvl="1"/>
            <a:r>
              <a:rPr lang="en-US" dirty="0"/>
              <a:t>Development environments</a:t>
            </a:r>
          </a:p>
          <a:p>
            <a:pPr lvl="1"/>
            <a:r>
              <a:rPr lang="en-US" dirty="0"/>
              <a:t>Licensing</a:t>
            </a:r>
          </a:p>
        </p:txBody>
      </p:sp>
    </p:spTree>
    <p:extLst>
      <p:ext uri="{BB962C8B-B14F-4D97-AF65-F5344CB8AC3E}">
        <p14:creationId xmlns:p14="http://schemas.microsoft.com/office/powerpoint/2010/main" val="76391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505D42-2C88-E948-45CB-85489B692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is version control important?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0F44F-F4CE-1FE2-E84D-9D8364CD1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VC can help you create ethical software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8FBC5-B99D-75D8-93FE-334D0D9CD1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UNESCO guidelines:</a:t>
            </a:r>
          </a:p>
          <a:p>
            <a:pPr lvl="1"/>
            <a:r>
              <a:rPr lang="en-US" dirty="0"/>
              <a:t>Safety and Security</a:t>
            </a:r>
          </a:p>
          <a:p>
            <a:pPr lvl="1"/>
            <a:r>
              <a:rPr lang="en-US" dirty="0"/>
              <a:t>Accountability</a:t>
            </a:r>
          </a:p>
          <a:p>
            <a:pPr lvl="1"/>
            <a:r>
              <a:rPr lang="en-US" dirty="0"/>
              <a:t>Transparency and </a:t>
            </a:r>
            <a:r>
              <a:rPr lang="en-US" dirty="0" err="1"/>
              <a:t>explainability</a:t>
            </a:r>
            <a:endParaRPr lang="en-US" dirty="0"/>
          </a:p>
          <a:p>
            <a:r>
              <a:rPr lang="en-US" dirty="0"/>
              <a:t>FAIR</a:t>
            </a:r>
          </a:p>
          <a:p>
            <a:pPr lvl="1"/>
            <a:r>
              <a:rPr lang="en-US" dirty="0"/>
              <a:t>Your software will be findable</a:t>
            </a:r>
          </a:p>
          <a:p>
            <a:pPr lvl="1"/>
            <a:r>
              <a:rPr lang="en-US" dirty="0"/>
              <a:t>People can use your software, or modify it or build on top of it</a:t>
            </a:r>
          </a:p>
          <a:p>
            <a:r>
              <a:rPr lang="en-US" dirty="0"/>
              <a:t>Personal benefits</a:t>
            </a:r>
          </a:p>
          <a:p>
            <a:pPr lvl="1"/>
            <a:r>
              <a:rPr lang="en-US" dirty="0"/>
              <a:t>You can undo catastrophic mistakes!</a:t>
            </a:r>
          </a:p>
          <a:p>
            <a:pPr lvl="1"/>
            <a:r>
              <a:rPr lang="en-US" dirty="0"/>
              <a:t>Another route for community engagement.</a:t>
            </a:r>
          </a:p>
          <a:p>
            <a:pPr lvl="1"/>
            <a:r>
              <a:rPr lang="en-US" dirty="0"/>
              <a:t>Required in industry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7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1BC30A-57F5-8626-2852-FFC83BF85D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D149B-9A23-8A69-F5C2-0F57B12696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About Git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B43CE-5283-E063-0381-8C6C2E22DC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Git helps us keep track of versions of files.</a:t>
            </a:r>
          </a:p>
          <a:p>
            <a:r>
              <a:rPr lang="en-US" dirty="0"/>
              <a:t>Git is very useful if you are working with many collaborators.</a:t>
            </a:r>
          </a:p>
          <a:p>
            <a:r>
              <a:rPr lang="en-US" dirty="0"/>
              <a:t>Relatively straight-forward to use, but can come with some headaches.</a:t>
            </a:r>
          </a:p>
          <a:p>
            <a:r>
              <a:rPr lang="en-US" dirty="0"/>
              <a:t>Through the course material, we will explore most of the git commands that you will need throughout your life.</a:t>
            </a:r>
          </a:p>
          <a:p>
            <a:r>
              <a:rPr lang="en-US" dirty="0"/>
              <a:t>Good rules:</a:t>
            </a:r>
          </a:p>
          <a:p>
            <a:pPr lvl="1"/>
            <a:r>
              <a:rPr lang="en-US" dirty="0"/>
              <a:t>Have a main branch and a dev branch</a:t>
            </a:r>
          </a:p>
          <a:p>
            <a:pPr lvl="1"/>
            <a:r>
              <a:rPr lang="en-US" dirty="0"/>
              <a:t>Commit often, and when you have working code</a:t>
            </a:r>
          </a:p>
          <a:p>
            <a:pPr lvl="1"/>
            <a:r>
              <a:rPr lang="en-US" dirty="0"/>
              <a:t>Amend commits if they are similar</a:t>
            </a:r>
          </a:p>
          <a:p>
            <a:pPr lvl="1"/>
            <a:endParaRPr lang="en-US" dirty="0"/>
          </a:p>
        </p:txBody>
      </p:sp>
      <p:pic>
        <p:nvPicPr>
          <p:cNvPr id="2050" name="Picture 2" descr="Git - Logo Downloads">
            <a:extLst>
              <a:ext uri="{FF2B5EF4-FFF2-40B4-BE49-F238E27FC236}">
                <a16:creationId xmlns:a16="http://schemas.microsoft.com/office/drawing/2014/main" id="{F00B5A16-2108-92FE-D8AB-D93C1A354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39" y="410366"/>
            <a:ext cx="438492" cy="43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939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F9A90C-2F9F-9444-4134-5535189504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 introduction to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25453-4E02-29FD-6ADF-93E97828B7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number of version control repositories exist:</a:t>
            </a:r>
          </a:p>
        </p:txBody>
      </p:sp>
      <p:pic>
        <p:nvPicPr>
          <p:cNvPr id="1028" name="Picture 4" descr="Was ist GitHub?">
            <a:extLst>
              <a:ext uri="{FF2B5EF4-FFF2-40B4-BE49-F238E27FC236}">
                <a16:creationId xmlns:a16="http://schemas.microsoft.com/office/drawing/2014/main" id="{F936B48B-D540-7FAC-2561-7493613CC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40" y="1745437"/>
            <a:ext cx="4302975" cy="143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most-comprehensive AI-powered DevSecOps platform | GitLab">
            <a:extLst>
              <a:ext uri="{FF2B5EF4-FFF2-40B4-BE49-F238E27FC236}">
                <a16:creationId xmlns:a16="http://schemas.microsoft.com/office/drawing/2014/main" id="{1DFB07F9-DF99-1DC4-3A85-8D1686418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178" y="1980842"/>
            <a:ext cx="4147046" cy="906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B810056-51E4-2F74-0DC3-316F6876E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59" y="3681825"/>
            <a:ext cx="4462887" cy="62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ourceForge.net | 16x">
            <a:extLst>
              <a:ext uri="{FF2B5EF4-FFF2-40B4-BE49-F238E27FC236}">
                <a16:creationId xmlns:a16="http://schemas.microsoft.com/office/drawing/2014/main" id="{27A25B7C-6B66-8985-B8DF-0A37821DA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321" y="3509057"/>
            <a:ext cx="6052434" cy="99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hat is Azure DevOps?. DevOps — the combination of the teams… | by Ajesh  Martin | featurepreneur | Medium">
            <a:extLst>
              <a:ext uri="{FF2B5EF4-FFF2-40B4-BE49-F238E27FC236}">
                <a16:creationId xmlns:a16="http://schemas.microsoft.com/office/drawing/2014/main" id="{DBA2C229-1EB4-80A7-3E57-EADE79D91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66" y="4653735"/>
            <a:ext cx="2753280" cy="17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itHub - Shared-Inc/CloudForge: CloudForge is a super simple, lightweight  HTML templating engine for Node.js. It's built on top of doT.js with  reusable component support, build output minification and lightning fast  Sass compilation.">
            <a:extLst>
              <a:ext uri="{FF2B5EF4-FFF2-40B4-BE49-F238E27FC236}">
                <a16:creationId xmlns:a16="http://schemas.microsoft.com/office/drawing/2014/main" id="{21381457-EA84-6F1F-058C-AA34DA0D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999" y="4816471"/>
            <a:ext cx="4371078" cy="139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366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9E169E-6F4A-9C08-1237-06CA3FFB7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GitHub?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A903D-3AA6-5AFD-021C-ACD151D00D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GitHub has emerged as the front-runner in digital version control repositories.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F3C45-F6F3-1B90-AD70-5389BE3B21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Early advantage</a:t>
            </a:r>
          </a:p>
          <a:p>
            <a:r>
              <a:rPr lang="en-US" dirty="0"/>
              <a:t>User-friendly UI</a:t>
            </a:r>
          </a:p>
          <a:p>
            <a:r>
              <a:rPr lang="en-US" dirty="0"/>
              <a:t>Ecosystem and integrations</a:t>
            </a:r>
          </a:p>
          <a:p>
            <a:r>
              <a:rPr lang="en-US" dirty="0"/>
              <a:t>Strong community</a:t>
            </a:r>
          </a:p>
          <a:p>
            <a:r>
              <a:rPr lang="en-US" dirty="0"/>
              <a:t>Microsoft acquisition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reasons make GitHub a relatively safe choice for software developers to store remote versions of their code.</a:t>
            </a:r>
          </a:p>
        </p:txBody>
      </p:sp>
    </p:spTree>
    <p:extLst>
      <p:ext uri="{BB962C8B-B14F-4D97-AF65-F5344CB8AC3E}">
        <p14:creationId xmlns:p14="http://schemas.microsoft.com/office/powerpoint/2010/main" val="150115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A1AC26-8F65-FE90-8220-57042AF29B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Developing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01CF8-5F7F-AAFD-31C1-6C96F0C6A1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There are many ways to develop Python code:</a:t>
            </a:r>
          </a:p>
        </p:txBody>
      </p:sp>
      <p:pic>
        <p:nvPicPr>
          <p:cNvPr id="2050" name="Picture 2" descr="Project Jupyter - Wikipedia">
            <a:extLst>
              <a:ext uri="{FF2B5EF4-FFF2-40B4-BE49-F238E27FC236}">
                <a16:creationId xmlns:a16="http://schemas.microsoft.com/office/drawing/2014/main" id="{26DCC56A-41B9-DB83-5B2E-4B67A888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76" y="1625746"/>
            <a:ext cx="1861579" cy="215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545251B2-9A5C-3A7D-0CB7-6664F0E06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46" y="4005824"/>
            <a:ext cx="1661724" cy="166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pyder (software) - Wikipedia">
            <a:extLst>
              <a:ext uri="{FF2B5EF4-FFF2-40B4-BE49-F238E27FC236}">
                <a16:creationId xmlns:a16="http://schemas.microsoft.com/office/drawing/2014/main" id="{E79743DE-1D76-5692-6CDD-F6D34A6E6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407" y="4102541"/>
            <a:ext cx="4040091" cy="202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87A6C68-2B21-E94C-AA9C-71D87AD9D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400" y="1898364"/>
            <a:ext cx="1760724" cy="161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sual Studio - Wikipedia">
            <a:extLst>
              <a:ext uri="{FF2B5EF4-FFF2-40B4-BE49-F238E27FC236}">
                <a16:creationId xmlns:a16="http://schemas.microsoft.com/office/drawing/2014/main" id="{94DD1084-4EC7-9BAE-247E-598D626FF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589" y="1146008"/>
            <a:ext cx="2286235" cy="228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ADD5119-FA5D-2670-B596-813EB7CAD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4419" y="3642505"/>
            <a:ext cx="2069487" cy="2069487"/>
          </a:xfrm>
          <a:prstGeom prst="rect">
            <a:avLst/>
          </a:prstGeom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41175E11-0647-F9E2-C61A-206AB4EAA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771" y="1865490"/>
            <a:ext cx="1804897" cy="180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GNU nano - Wikipedia">
            <a:extLst>
              <a:ext uri="{FF2B5EF4-FFF2-40B4-BE49-F238E27FC236}">
                <a16:creationId xmlns:a16="http://schemas.microsoft.com/office/drawing/2014/main" id="{3DE328DD-208B-0997-57B8-87E29D3CF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24" y="4238196"/>
            <a:ext cx="2069487" cy="206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18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B34BC6-BE55-C627-C81C-C109F83AF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Developing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D84D-AD41-41DC-7194-E14AC1002C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 use Visual Studio 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02832-B504-7333-315E-80539E672A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Lightweight, and faster than some other environments.</a:t>
            </a:r>
          </a:p>
          <a:p>
            <a:r>
              <a:rPr lang="en-US" dirty="0"/>
              <a:t>Not restricted to a single language.</a:t>
            </a:r>
          </a:p>
          <a:p>
            <a:r>
              <a:rPr lang="en-US" dirty="0"/>
              <a:t>Has a debugger and terminal.</a:t>
            </a:r>
          </a:p>
          <a:p>
            <a:r>
              <a:rPr lang="en-US" dirty="0"/>
              <a:t>Extensions:</a:t>
            </a:r>
          </a:p>
          <a:p>
            <a:pPr lvl="1"/>
            <a:r>
              <a:rPr lang="en-US" dirty="0" err="1"/>
              <a:t>Jupyter</a:t>
            </a:r>
            <a:endParaRPr lang="en-US" dirty="0"/>
          </a:p>
          <a:p>
            <a:pPr lvl="1"/>
            <a:r>
              <a:rPr lang="en-US" dirty="0"/>
              <a:t>Remote development and cloud integration</a:t>
            </a:r>
          </a:p>
          <a:p>
            <a:pPr lvl="1"/>
            <a:r>
              <a:rPr lang="en-US" dirty="0"/>
              <a:t>VC and GitHub integration</a:t>
            </a:r>
          </a:p>
          <a:p>
            <a:pPr lvl="1"/>
            <a:r>
              <a:rPr lang="en-US" dirty="0"/>
              <a:t>Copilot</a:t>
            </a:r>
          </a:p>
          <a:p>
            <a:r>
              <a:rPr lang="en-US" dirty="0"/>
              <a:t>Lots of nice themes!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4F296BD-01D8-2F3E-6F91-3DB14105C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14" y="1146008"/>
            <a:ext cx="416347" cy="4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8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F5439A-7606-7362-388E-E43FFCC7E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 aside about Copilot…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F465-2CC9-4B66-C2DD-109B2F286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Should you use it…?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67CF5-FC98-DD7C-4F00-36C1C06C97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Reduces the time to write relatively straight-forward bits of code</a:t>
            </a:r>
          </a:p>
          <a:p>
            <a:pPr lvl="1"/>
            <a:r>
              <a:rPr lang="en-US" dirty="0"/>
              <a:t>Substitute for spending time digging through stack overflow or the documentation</a:t>
            </a:r>
          </a:p>
          <a:p>
            <a:pPr lvl="1"/>
            <a:r>
              <a:rPr lang="en-US" dirty="0"/>
              <a:t>Write basic test cases</a:t>
            </a:r>
          </a:p>
          <a:p>
            <a:pPr lvl="1"/>
            <a:r>
              <a:rPr lang="en-US" dirty="0"/>
              <a:t>Find issues with code, and help optimize</a:t>
            </a:r>
          </a:p>
          <a:p>
            <a:pPr lvl="1"/>
            <a:r>
              <a:rPr lang="en-US" dirty="0"/>
              <a:t>Great for learning new things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Sometimes produces nonsense – susceptible to hallucination, just like other LLMs</a:t>
            </a:r>
          </a:p>
          <a:p>
            <a:pPr lvl="1"/>
            <a:r>
              <a:rPr lang="en-US" dirty="0"/>
              <a:t>At the mercy of Microsoft updating or nerfing</a:t>
            </a:r>
          </a:p>
          <a:p>
            <a:pPr lvl="1"/>
            <a:r>
              <a:rPr lang="en-US" dirty="0"/>
              <a:t>Potential to waste time looking for faulty code</a:t>
            </a:r>
          </a:p>
          <a:p>
            <a:pPr lvl="1"/>
            <a:endParaRPr lang="en-US" dirty="0"/>
          </a:p>
          <a:p>
            <a:r>
              <a:rPr lang="en-US" dirty="0"/>
              <a:t>Remember…</a:t>
            </a:r>
          </a:p>
          <a:p>
            <a:pPr lvl="1"/>
            <a:r>
              <a:rPr lang="en-US" dirty="0"/>
              <a:t>Human-in-the-loop</a:t>
            </a:r>
          </a:p>
          <a:p>
            <a:pPr lvl="1"/>
            <a:r>
              <a:rPr lang="en-US" dirty="0"/>
              <a:t>It is not a substitute for understanding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AF4861-3369-63C2-4BE9-AF9B22A46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436" y="321805"/>
            <a:ext cx="631654" cy="51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90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5250E7-8472-0446-8564-39FE1A1FA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GitHub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E3445-D5E6-083F-4743-37EE3B2463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There are some key files that appear in GitHub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238AE-2296-8115-5C5A-4B0308D9F5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README.md</a:t>
            </a:r>
            <a:endParaRPr lang="en-US" dirty="0"/>
          </a:p>
          <a:p>
            <a:pPr lvl="1"/>
            <a:r>
              <a:rPr lang="en-US" dirty="0"/>
              <a:t>Includes information about your project</a:t>
            </a:r>
          </a:p>
          <a:p>
            <a:pPr lvl="1"/>
            <a:r>
              <a:rPr lang="en-US" dirty="0"/>
              <a:t>Markdown format</a:t>
            </a:r>
          </a:p>
          <a:p>
            <a:pPr lvl="1"/>
            <a:r>
              <a:rPr lang="en-US" dirty="0"/>
              <a:t>Can also include HTML and CSS, and can get quite complicated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en-US" dirty="0"/>
              <a:t>Everything that you don’t want to commit to your git history and your repo</a:t>
            </a:r>
          </a:p>
          <a:p>
            <a:pPr lvl="1"/>
            <a:r>
              <a:rPr lang="en-US" dirty="0"/>
              <a:t>Usually standard templates</a:t>
            </a:r>
          </a:p>
          <a:p>
            <a:pPr lvl="1"/>
            <a:r>
              <a:rPr lang="en-US" dirty="0"/>
              <a:t>You should include any files that contain private information such as API keys!</a:t>
            </a:r>
          </a:p>
          <a:p>
            <a:pPr lvl="1"/>
            <a:r>
              <a:rPr lang="en-US" dirty="0"/>
              <a:t>Copilot can produce this for you very easily.</a:t>
            </a:r>
          </a:p>
          <a:p>
            <a:r>
              <a:rPr lang="en-US" dirty="0"/>
              <a:t>LICENSE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9AC5A6-5EA7-24F0-3A27-C4DD17361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Software licensing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7C242-96E5-A132-E00E-F389CF5D2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Including a license in your software is critical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78B43-B65F-7946-538E-09E68EA43B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3659" y="1867010"/>
            <a:ext cx="11176000" cy="4158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0000"/>
                </a:solidFill>
              </a:rPr>
              <a:t>“When you make a creative work (which includes code), the work is under exclusive copyright by default. Unless you include a license that specifies otherwise, nobody else can copy, distribute, or modify your work without being at risk of take-downs, shake-downs, or litigation. Once the work has other contributors (each a copyright holder), ‘nobody’ starts including you.”</a:t>
            </a:r>
          </a:p>
          <a:p>
            <a:endParaRPr lang="en-US" dirty="0"/>
          </a:p>
          <a:p>
            <a:r>
              <a:rPr lang="en-US" dirty="0"/>
              <a:t>If you don’t include a license, other people can view and fork your code, but they can’t modify it or use it in any meaningful way.</a:t>
            </a:r>
          </a:p>
          <a:p>
            <a:r>
              <a:rPr lang="en-US" dirty="0"/>
              <a:t>Not allowing others to use your code is probably not what you intended by not including a license.</a:t>
            </a:r>
          </a:p>
          <a:p>
            <a:r>
              <a:rPr lang="en-US" dirty="0"/>
              <a:t>If you come across software that has no license, this means you have no permission to use, modify or share the code.</a:t>
            </a:r>
          </a:p>
          <a:p>
            <a:pPr lvl="1"/>
            <a:r>
              <a:rPr lang="en-US" dirty="0"/>
              <a:t>Ask the maintainers to include a license</a:t>
            </a:r>
          </a:p>
          <a:p>
            <a:pPr lvl="1"/>
            <a:r>
              <a:rPr lang="en-US" dirty="0"/>
              <a:t>Don’t use it</a:t>
            </a:r>
          </a:p>
          <a:p>
            <a:pPr lvl="1"/>
            <a:r>
              <a:rPr lang="en-US" dirty="0"/>
              <a:t>Negotiate a private license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390C7-44BE-8137-18C6-053C86F2D4C6}"/>
              </a:ext>
            </a:extLst>
          </p:cNvPr>
          <p:cNvSpPr/>
          <p:nvPr/>
        </p:nvSpPr>
        <p:spPr>
          <a:xfrm>
            <a:off x="570133" y="1760045"/>
            <a:ext cx="11043051" cy="1333429"/>
          </a:xfrm>
          <a:prstGeom prst="rect">
            <a:avLst/>
          </a:prstGeom>
          <a:solidFill>
            <a:srgbClr val="C00000">
              <a:alpha val="20000"/>
            </a:srgb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21D80C-6D21-E056-FFEC-0E254573AD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Software licensing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A3C50-99D2-8680-7C71-ED38F815B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types of licenses are available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67A7450-5E4F-62F0-3B59-3CF8D4B2EAA4}"/>
              </a:ext>
            </a:extLst>
          </p:cNvPr>
          <p:cNvSpPr txBox="1">
            <a:spLocks/>
          </p:cNvSpPr>
          <p:nvPr/>
        </p:nvSpPr>
        <p:spPr>
          <a:xfrm>
            <a:off x="6455087" y="2691019"/>
            <a:ext cx="2629643" cy="554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/>
              <a:t>MIT  	Apache 2.0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E91936-D3AB-686A-AF62-E00A839A113C}"/>
              </a:ext>
            </a:extLst>
          </p:cNvPr>
          <p:cNvCxnSpPr>
            <a:cxnSpLocks/>
          </p:cNvCxnSpPr>
          <p:nvPr/>
        </p:nvCxnSpPr>
        <p:spPr>
          <a:xfrm>
            <a:off x="1858433" y="3924952"/>
            <a:ext cx="7366000" cy="0"/>
          </a:xfrm>
          <a:prstGeom prst="straightConnector1">
            <a:avLst/>
          </a:prstGeom>
          <a:ln>
            <a:solidFill>
              <a:srgbClr val="235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1E84B6-0C22-5A53-1C7D-CBB107C76BEB}"/>
              </a:ext>
            </a:extLst>
          </p:cNvPr>
          <p:cNvCxnSpPr>
            <a:cxnSpLocks/>
          </p:cNvCxnSpPr>
          <p:nvPr/>
        </p:nvCxnSpPr>
        <p:spPr>
          <a:xfrm flipV="1">
            <a:off x="5541433" y="1745437"/>
            <a:ext cx="0" cy="4359030"/>
          </a:xfrm>
          <a:prstGeom prst="straightConnector1">
            <a:avLst/>
          </a:prstGeom>
          <a:ln>
            <a:solidFill>
              <a:srgbClr val="235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7A7A6F4-47D8-056F-F007-1FC8850133EB}"/>
              </a:ext>
            </a:extLst>
          </p:cNvPr>
          <p:cNvSpPr txBox="1">
            <a:spLocks/>
          </p:cNvSpPr>
          <p:nvPr/>
        </p:nvSpPr>
        <p:spPr>
          <a:xfrm>
            <a:off x="8787903" y="3477303"/>
            <a:ext cx="4005230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Commercial 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3562274-C1E5-BED9-1536-5571E3098007}"/>
              </a:ext>
            </a:extLst>
          </p:cNvPr>
          <p:cNvSpPr txBox="1">
            <a:spLocks/>
          </p:cNvSpPr>
          <p:nvPr/>
        </p:nvSpPr>
        <p:spPr>
          <a:xfrm>
            <a:off x="1324892" y="3463843"/>
            <a:ext cx="4005230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Non-commercial 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E189D10-63C7-52F1-954C-FD499394D9CF}"/>
              </a:ext>
            </a:extLst>
          </p:cNvPr>
          <p:cNvSpPr txBox="1">
            <a:spLocks/>
          </p:cNvSpPr>
          <p:nvPr/>
        </p:nvSpPr>
        <p:spPr>
          <a:xfrm>
            <a:off x="5671814" y="1515644"/>
            <a:ext cx="4005230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Permissive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C9F0CDD-7CB2-DCAA-68D2-E89908CFEE43}"/>
              </a:ext>
            </a:extLst>
          </p:cNvPr>
          <p:cNvSpPr txBox="1">
            <a:spLocks/>
          </p:cNvSpPr>
          <p:nvPr/>
        </p:nvSpPr>
        <p:spPr>
          <a:xfrm>
            <a:off x="5541433" y="5953098"/>
            <a:ext cx="4005230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Non-permissive (copy-left)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1604E53-7CE3-303D-67E5-9D180577F926}"/>
              </a:ext>
            </a:extLst>
          </p:cNvPr>
          <p:cNvSpPr txBox="1">
            <a:spLocks/>
          </p:cNvSpPr>
          <p:nvPr/>
        </p:nvSpPr>
        <p:spPr>
          <a:xfrm>
            <a:off x="6285401" y="4652678"/>
            <a:ext cx="3197265" cy="554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/>
              <a:t>GNU General Public License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0A58676-812F-A1DB-9D04-30BE2AA75DF2}"/>
              </a:ext>
            </a:extLst>
          </p:cNvPr>
          <p:cNvSpPr txBox="1">
            <a:spLocks/>
          </p:cNvSpPr>
          <p:nvPr/>
        </p:nvSpPr>
        <p:spPr>
          <a:xfrm>
            <a:off x="2090991" y="2327385"/>
            <a:ext cx="2993616" cy="554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/>
              <a:t>Creative Commons Attribution Non Commercial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26EDD86-93FD-7FE2-BEED-5DD85A46F9CA}"/>
              </a:ext>
            </a:extLst>
          </p:cNvPr>
          <p:cNvSpPr txBox="1">
            <a:spLocks/>
          </p:cNvSpPr>
          <p:nvPr/>
        </p:nvSpPr>
        <p:spPr>
          <a:xfrm>
            <a:off x="6650568" y="3065137"/>
            <a:ext cx="1592179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e.g. </a:t>
            </a:r>
            <a:r>
              <a:rPr lang="en-US" i="1" dirty="0" err="1"/>
              <a:t>PyTorch</a:t>
            </a:r>
            <a:r>
              <a:rPr lang="en-US" i="1" dirty="0"/>
              <a:t> 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1030D4B1-D0D0-8F3C-3B97-CFC461F298FE}"/>
              </a:ext>
            </a:extLst>
          </p:cNvPr>
          <p:cNvSpPr txBox="1">
            <a:spLocks/>
          </p:cNvSpPr>
          <p:nvPr/>
        </p:nvSpPr>
        <p:spPr>
          <a:xfrm>
            <a:off x="6650568" y="5044979"/>
            <a:ext cx="2137326" cy="495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e.g. Linux Kernel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5FDF737-C1DB-DDCB-D4D0-BB5300EB945E}"/>
              </a:ext>
            </a:extLst>
          </p:cNvPr>
          <p:cNvSpPr txBox="1">
            <a:spLocks/>
          </p:cNvSpPr>
          <p:nvPr/>
        </p:nvSpPr>
        <p:spPr>
          <a:xfrm>
            <a:off x="2791709" y="2883956"/>
            <a:ext cx="1592179" cy="495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/>
              <a:t>e.g. </a:t>
            </a:r>
            <a:r>
              <a:rPr lang="en-US" i="1" dirty="0" err="1"/>
              <a:t>OpenPose</a:t>
            </a:r>
            <a:endParaRPr lang="en-US" i="1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DCD04A5-9A48-35E4-9E40-4BEF40A59EF3}"/>
              </a:ext>
            </a:extLst>
          </p:cNvPr>
          <p:cNvSpPr txBox="1">
            <a:spLocks/>
          </p:cNvSpPr>
          <p:nvPr/>
        </p:nvSpPr>
        <p:spPr>
          <a:xfrm>
            <a:off x="1262182" y="4559224"/>
            <a:ext cx="4279251" cy="10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/>
              <a:t>Creative Commons Attribution Non Commercial (Share Alike)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14908ED-8B6B-B7CE-618C-8932E325FCB1}"/>
              </a:ext>
            </a:extLst>
          </p:cNvPr>
          <p:cNvSpPr txBox="1">
            <a:spLocks/>
          </p:cNvSpPr>
          <p:nvPr/>
        </p:nvSpPr>
        <p:spPr>
          <a:xfrm>
            <a:off x="2154060" y="5107997"/>
            <a:ext cx="2506238" cy="1175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/>
              <a:t>e.g. Meta “Segment Anything Model”</a:t>
            </a:r>
          </a:p>
        </p:txBody>
      </p:sp>
    </p:spTree>
    <p:extLst>
      <p:ext uri="{BB962C8B-B14F-4D97-AF65-F5344CB8AC3E}">
        <p14:creationId xmlns:p14="http://schemas.microsoft.com/office/powerpoint/2010/main" val="3643261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AC0913-7678-7088-0C8A-69CC9CD87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Getting Set Up with Pods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5D536-D61C-6796-C14C-A06789A4FD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3659" y="1152335"/>
            <a:ext cx="11176000" cy="4892866"/>
          </a:xfrm>
        </p:spPr>
        <p:txBody>
          <a:bodyPr>
            <a:normAutofit/>
          </a:bodyPr>
          <a:lstStyle/>
          <a:p>
            <a:r>
              <a:rPr lang="en-US" sz="1870" dirty="0"/>
              <a:t>Head to </a:t>
            </a:r>
            <a:r>
              <a:rPr lang="en-US" sz="1870" b="1" dirty="0" err="1"/>
              <a:t>pods.acceleratescience.co.uk</a:t>
            </a:r>
            <a:endParaRPr lang="en-US" sz="1870" b="1" dirty="0"/>
          </a:p>
          <a:p>
            <a:pPr marL="914400" lvl="1" indent="-457200"/>
            <a:r>
              <a:rPr lang="en-US" sz="187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Username: </a:t>
            </a:r>
            <a:r>
              <a:rPr lang="en-US" sz="1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CRSid</a:t>
            </a:r>
            <a:endParaRPr lang="en-US" sz="187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914400" lvl="1" indent="-457200">
              <a:lnSpc>
                <a:spcPct val="150000"/>
              </a:lnSpc>
            </a:pPr>
            <a:r>
              <a:rPr lang="en-US" sz="187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Password: </a:t>
            </a:r>
            <a:r>
              <a:rPr lang="en-US" sz="187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Acceler8</a:t>
            </a:r>
          </a:p>
          <a:p>
            <a:pPr>
              <a:lnSpc>
                <a:spcPct val="150000"/>
              </a:lnSpc>
            </a:pPr>
            <a:r>
              <a:rPr lang="en-US" sz="1870" dirty="0"/>
              <a:t>Choose </a:t>
            </a:r>
            <a:r>
              <a:rPr lang="en-US" sz="1870" dirty="0" err="1"/>
              <a:t>VSCode</a:t>
            </a:r>
            <a:r>
              <a:rPr lang="en-US" sz="1870" dirty="0"/>
              <a:t> as your IDE</a:t>
            </a:r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endParaRPr lang="en-US" sz="1870" dirty="0"/>
          </a:p>
          <a:p>
            <a:pPr marL="0" indent="0">
              <a:buNone/>
            </a:pPr>
            <a:endParaRPr lang="en-US" sz="187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1564C-3157-E018-CD51-0FA9F3CA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0" y="2847975"/>
            <a:ext cx="3886200" cy="116205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3FCB599-DA0D-78B2-24A6-83A6F73A120A}"/>
              </a:ext>
            </a:extLst>
          </p:cNvPr>
          <p:cNvSpPr/>
          <p:nvPr/>
        </p:nvSpPr>
        <p:spPr>
          <a:xfrm>
            <a:off x="2009955" y="3183147"/>
            <a:ext cx="892115" cy="8268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0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1229</Words>
  <Application>Microsoft Macintosh PowerPoint</Application>
  <PresentationFormat>Widescreen</PresentationFormat>
  <Paragraphs>148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Avenir Book</vt:lpstr>
      <vt:lpstr>Avenir Heavy</vt:lpstr>
      <vt:lpstr>Courier New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Daniels</dc:creator>
  <cp:lastModifiedBy>Finley Griffin</cp:lastModifiedBy>
  <cp:revision>1</cp:revision>
  <dcterms:created xsi:type="dcterms:W3CDTF">2024-04-29T13:58:24Z</dcterms:created>
  <dcterms:modified xsi:type="dcterms:W3CDTF">2026-03-10T13:41:01Z</dcterms:modified>
</cp:coreProperties>
</file>